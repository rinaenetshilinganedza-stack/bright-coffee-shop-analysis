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0A00"/>
                </a:solidFill>
                <a:latin typeface="Arial"/>
              </a:defRPr>
            </a:pPr>
            <a:r>
              <a:rPr lang="en-ZA" sz="1300" b="0" i="0" u="none" strike="noStrike">
                <a:solidFill>
                  <a:srgbClr val="1A0A00"/>
                </a:solidFill>
                <a:latin typeface="Arial"/>
              </a:rPr>
              <a:t>Revenue by Product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47A1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1CC-4826-812E-78925FC9CEC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1CC-4826-812E-78925FC9CEC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1CC-4826-812E-78925FC9CEC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1CC-4826-812E-78925FC9CEC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1CC-4826-812E-78925FC9CEC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1CC-4826-812E-78925FC9CE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0A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Choc.</c:v>
                </c:pt>
                <c:pt idx="4">
                  <c:v>Coffee Beans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269952</c:v>
                </c:pt>
                <c:pt idx="1">
                  <c:v>196406</c:v>
                </c:pt>
                <c:pt idx="2">
                  <c:v>82316</c:v>
                </c:pt>
                <c:pt idx="3">
                  <c:v>72416</c:v>
                </c:pt>
                <c:pt idx="4">
                  <c:v>40085</c:v>
                </c:pt>
                <c:pt idx="5">
                  <c:v>35636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1CC-4826-812E-78925FC9CE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0A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0A00"/>
                </a:solidFill>
                <a:latin typeface="Arial"/>
              </a:rPr>
              <a:t>Sales Over Time (by Hour)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38100" cap="flat">
              <a:solidFill>
                <a:srgbClr val="C47A1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7A1E"/>
              </a:solidFill>
              <a:ln w="9525" cap="flat">
                <a:solidFill>
                  <a:srgbClr val="C47A1E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  <c:pt idx="9">
                  <c:v>15:00</c:v>
                </c:pt>
                <c:pt idx="10">
                  <c:v>16:00</c:v>
                </c:pt>
                <c:pt idx="11">
                  <c:v>17:00</c:v>
                </c:pt>
                <c:pt idx="12">
                  <c:v>18:00</c:v>
                </c:pt>
                <c:pt idx="13">
                  <c:v>19:00</c:v>
                </c:pt>
                <c:pt idx="14">
                  <c:v>20:00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25000</c:v>
                </c:pt>
                <c:pt idx="1">
                  <c:v>67000</c:v>
                </c:pt>
                <c:pt idx="2">
                  <c:v>83000</c:v>
                </c:pt>
                <c:pt idx="3">
                  <c:v>88000</c:v>
                </c:pt>
                <c:pt idx="4">
                  <c:v>93000</c:v>
                </c:pt>
                <c:pt idx="5">
                  <c:v>44000</c:v>
                </c:pt>
                <c:pt idx="6">
                  <c:v>40000</c:v>
                </c:pt>
                <c:pt idx="7">
                  <c:v>40000</c:v>
                </c:pt>
                <c:pt idx="8">
                  <c:v>40000</c:v>
                </c:pt>
                <c:pt idx="9">
                  <c:v>40000</c:v>
                </c:pt>
                <c:pt idx="10">
                  <c:v>40500</c:v>
                </c:pt>
                <c:pt idx="11">
                  <c:v>40000</c:v>
                </c:pt>
                <c:pt idx="12">
                  <c:v>35000</c:v>
                </c:pt>
                <c:pt idx="13">
                  <c:v>27000</c:v>
                </c:pt>
                <c:pt idx="14">
                  <c:v>12000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2FA-459B-B84D-D4C530B4F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0A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0A00"/>
                </a:solidFill>
                <a:latin typeface="Arial"/>
              </a:rPr>
              <a:t>Products That Sold the Most (Units)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C47A1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91E-4750-87F7-E8148EB0E7B1}"/>
              </c:ext>
            </c:extLst>
          </c:dPt>
          <c:dPt>
            <c:idx val="1"/>
            <c:invertIfNegative val="0"/>
            <c:bubble3D val="0"/>
            <c:spPr>
              <a:solidFill>
                <a:srgbClr val="4E22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1E-4750-87F7-E8148EB0E7B1}"/>
              </c:ext>
            </c:extLst>
          </c:dPt>
          <c:dPt>
            <c:idx val="2"/>
            <c:invertIfNegative val="0"/>
            <c:bubble3D val="0"/>
            <c:spPr>
              <a:solidFill>
                <a:srgbClr val="D48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91E-4750-87F7-E8148EB0E7B1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91E-4750-87F7-E8148EB0E7B1}"/>
              </c:ext>
            </c:extLst>
          </c:dPt>
          <c:dPt>
            <c:idx val="4"/>
            <c:invertIfNegative val="0"/>
            <c:bubble3D val="0"/>
            <c:spPr>
              <a:solidFill>
                <a:srgbClr val="AABB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91E-4750-87F7-E8148EB0E7B1}"/>
              </c:ext>
            </c:extLst>
          </c:dPt>
          <c:dPt>
            <c:idx val="5"/>
            <c:invertIfNegative val="0"/>
            <c:bubble3D val="0"/>
            <c:spPr>
              <a:solidFill>
                <a:srgbClr val="BBCC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91E-4750-87F7-E8148EB0E7B1}"/>
              </c:ext>
            </c:extLst>
          </c:dPt>
          <c:dPt>
            <c:idx val="6"/>
            <c:invertIfNegative val="0"/>
            <c:bubble3D val="0"/>
            <c:spPr>
              <a:solidFill>
                <a:srgbClr val="CCDD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91E-4750-87F7-E8148EB0E7B1}"/>
              </c:ext>
            </c:extLst>
          </c:dPt>
          <c:dPt>
            <c:idx val="7"/>
            <c:invertIfNegative val="0"/>
            <c:bubble3D val="0"/>
            <c:spPr>
              <a:solidFill>
                <a:srgbClr val="DDE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91E-4750-87F7-E8148EB0E7B1}"/>
              </c:ext>
            </c:extLst>
          </c:dPt>
          <c:dPt>
            <c:idx val="8"/>
            <c:invertIfNegative val="0"/>
            <c:bubble3D val="0"/>
            <c:spPr>
              <a:solidFill>
                <a:srgbClr val="EEF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91E-4750-87F7-E8148EB0E7B1}"/>
              </c:ext>
            </c:extLst>
          </c:dPt>
          <c:cat>
            <c:strRef>
              <c:f>Sheet1!$A$2:$A$10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
Choc.</c:v>
                </c:pt>
                <c:pt idx="4">
                  <c:v>Coffee
Beans</c:v>
                </c:pt>
                <c:pt idx="5">
                  <c:v>Flavours</c:v>
                </c:pt>
                <c:pt idx="6">
                  <c:v>Loose
Tea</c:v>
                </c:pt>
                <c:pt idx="7">
                  <c:v>Branded</c:v>
                </c:pt>
                <c:pt idx="8">
                  <c:v>Packaged
Choc.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88000</c:v>
                </c:pt>
                <c:pt idx="1">
                  <c:v>70000</c:v>
                </c:pt>
                <c:pt idx="2">
                  <c:v>25000</c:v>
                </c:pt>
                <c:pt idx="3">
                  <c:v>17000</c:v>
                </c:pt>
                <c:pt idx="4">
                  <c:v>4000</c:v>
                </c:pt>
                <c:pt idx="5">
                  <c:v>2500</c:v>
                </c:pt>
                <c:pt idx="6">
                  <c:v>2200</c:v>
                </c:pt>
                <c:pt idx="7">
                  <c:v>1500</c:v>
                </c:pt>
                <c:pt idx="8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591E-4750-87F7-E8148EB0E7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473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2B1200"/>
          </a:solidFill>
          <a:ln w="12700">
            <a:solidFill>
              <a:srgbClr val="2B1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-548640"/>
            <a:ext cx="3200400" cy="3200400"/>
          </a:xfrm>
          <a:prstGeom prst="ellipse">
            <a:avLst/>
          </a:prstGeom>
          <a:solidFill>
            <a:srgbClr val="3D1A00"/>
          </a:solidFill>
          <a:ln w="12700">
            <a:solidFill>
              <a:srgbClr val="3D1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 COFFEE SHOP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Analysis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Insights Report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smtClean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200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SQL · Excel · Power BI  | 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This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 smtClean="0"/>
              <a:t>For this project , I analyzed transactional sales data from a coffee shop with the objective to identify trends and improve business performance.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Used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1389888"/>
            <a:ext cx="3749040" cy="640080"/>
          </a:xfrm>
          <a:prstGeom prst="rect">
            <a:avLst/>
          </a:prstGeom>
          <a:solidFill>
            <a:srgbClr val="F5ECD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264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Planning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 / Figma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139696"/>
            <a:ext cx="3749040" cy="640080"/>
          </a:xfrm>
          <a:prstGeom prst="rect">
            <a:avLst/>
          </a:prstGeom>
          <a:solidFill>
            <a:srgbClr val="F5ECD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176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SQL 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441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· Databricks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889504"/>
            <a:ext cx="3749040" cy="640080"/>
          </a:xfrm>
          <a:prstGeom prst="rect">
            <a:avLst/>
          </a:prstGeom>
          <a:solidFill>
            <a:srgbClr val="F5ECD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191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· Power BI · Tableau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639312"/>
            <a:ext cx="3749040" cy="640080"/>
          </a:xfrm>
          <a:prstGeom prst="rect">
            <a:avLst/>
          </a:prstGeom>
          <a:solidFill>
            <a:srgbClr val="F5ECD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675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📑  Presentation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941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PowerPoint · Canva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8580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73152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731520"/>
            <a:ext cx="73152" cy="100584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804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0" y="804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Earner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1078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Coffee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0" y="1389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269,952 total revenue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187452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1874520"/>
            <a:ext cx="73152" cy="100584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1947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🍵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8368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Highest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0" y="2221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83680" y="2532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196,406 total revenue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301752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3017520"/>
            <a:ext cx="73152" cy="100584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3090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🥐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58368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Place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0" y="3364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Bakery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583680" y="3675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82,316 total revenue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52160" y="4114800"/>
            <a:ext cx="3017520" cy="77724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41605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Coffee + Tea = 67% of total revenue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SALES HOURS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73152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3796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86600" y="822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Hours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86600" y="111556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– 10:00 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transaction volume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92240" y="201168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08660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Period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86600" y="2395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11:00 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sales drop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92240" y="32918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379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86600" y="3383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86600" y="36758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promotions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slow hours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SELLERS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8580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731520"/>
            <a:ext cx="3017520" cy="45720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7498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PRODUCTS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1325880"/>
            <a:ext cx="3017520" cy="548640"/>
          </a:xfrm>
          <a:prstGeom prst="rect">
            <a:avLst/>
          </a:prstGeom>
          <a:solidFill>
            <a:srgbClr val="C47A1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39903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6364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16276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revenue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458200" y="1463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1929384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002536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63640" y="20208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Brewed Chai Tea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63640" y="22311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revenue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458200" y="20665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52160" y="2532888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97880" y="260604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63640" y="2624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Gourmet Brewed Coffee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3640" y="2834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revenue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458200" y="2670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52160" y="3136392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3209544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263640" y="32278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Brewed Black Tea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63640" y="34381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revenue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458200" y="32735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8%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852160" y="3739896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97880" y="3813048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263640" y="38313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Chocolate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263640" y="4041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revenue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458200" y="3877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1261872"/>
          </a:xfrm>
          <a:prstGeom prst="rect">
            <a:avLst/>
          </a:prstGeom>
          <a:solidFill>
            <a:srgbClr val="2B1200"/>
          </a:solidFill>
          <a:ln w="12700">
            <a:solidFill>
              <a:srgbClr val="3D1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91440" cy="1261872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4124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📣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2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8412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Campaigns During Slow Hours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18872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drop sharply after 11:00 AM. Launch targeted promotions, loyalty discounts, and bundle deals between 12:00–16:00 to drive foot traffic during off-peak periods.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8412480" cy="1261872"/>
          </a:xfrm>
          <a:prstGeom prst="rect">
            <a:avLst/>
          </a:prstGeom>
          <a:solidFill>
            <a:srgbClr val="2B1200"/>
          </a:solidFill>
          <a:ln w="12700">
            <a:solidFill>
              <a:srgbClr val="3D1A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67128"/>
            <a:ext cx="91440" cy="1261872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5856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2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2585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More Best-Selling Items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0604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Tea represent 67% of total revenue. Ensure consistent stock of top performers — Barista Espresso, Brewed Chai Tea, and Gourmet Brewed Coffee — especially during peak hours (8–10 AM).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8412480" cy="1261872"/>
          </a:xfrm>
          <a:prstGeom prst="rect">
            <a:avLst/>
          </a:prstGeom>
          <a:solidFill>
            <a:srgbClr val="2B1200"/>
          </a:solidFill>
          <a:ln w="12700">
            <a:solidFill>
              <a:srgbClr val="3D1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84448"/>
            <a:ext cx="91440" cy="1261872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758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2920" y="43891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2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36758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 Low-Performing Products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like Organic Chocolate, Housewares, and Loose Tea contribute &lt; 1% of revenue. Evaluate pricing, placement, and marketing strategies or consider discontinuing underperformers.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914400" cy="914400"/>
          </a:xfrm>
          <a:prstGeom prst="ellipse">
            <a:avLst/>
          </a:prstGeom>
          <a:solidFill>
            <a:srgbClr val="F5ECD7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91440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 Daily Sales Reporting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28016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pipelines to generate daily/weekly sales reports, reducing manual effort and ensuring real-time visibility for the CEO.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04872"/>
            <a:ext cx="914400" cy="914400"/>
          </a:xfrm>
          <a:prstGeom prst="ellipse">
            <a:avLst/>
          </a:prstGeom>
          <a:solidFill>
            <a:srgbClr val="F5ECD7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54480" y="23591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More Branches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724912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sales performance across multiple locations as the business scales. Compare branch performance to identify top-performing stores.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849624"/>
            <a:ext cx="914400" cy="914400"/>
          </a:xfrm>
          <a:prstGeom prst="ellipse">
            <a:avLst/>
          </a:prstGeom>
          <a:solidFill>
            <a:srgbClr val="F5ECD7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67912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🎁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54480" y="380390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2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Loyalty Programs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169664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loyalty programs based on peak customer time slots. Reward repeat customers during off-peak hours to drive consistent revenue.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2B1200"/>
          </a:solidFill>
          <a:ln w="12700">
            <a:solidFill>
              <a:srgbClr val="2B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2B1200"/>
          </a:solidFill>
          <a:ln w="12700">
            <a:solidFill>
              <a:srgbClr val="2B1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7A1E"/>
          </a:solidFill>
          <a:ln w="12700">
            <a:solidFill>
              <a:srgbClr val="C47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4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— Sales Analysis Report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2651760"/>
            <a:ext cx="2103120" cy="1188720"/>
          </a:xfrm>
          <a:prstGeom prst="rect">
            <a:avLst/>
          </a:prstGeom>
          <a:solidFill>
            <a:srgbClr val="2B1200"/>
          </a:solidFill>
          <a:ln w="12700">
            <a:solidFill>
              <a:srgbClr val="3D2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724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700k+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2651760"/>
            <a:ext cx="2103120" cy="1188720"/>
          </a:xfrm>
          <a:prstGeom prst="rect">
            <a:avLst/>
          </a:prstGeom>
          <a:solidFill>
            <a:srgbClr val="2B1200"/>
          </a:solidFill>
          <a:ln w="12700">
            <a:solidFill>
              <a:srgbClr val="3D2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724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4904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651760"/>
            <a:ext cx="2103120" cy="1188720"/>
          </a:xfrm>
          <a:prstGeom prst="rect">
            <a:avLst/>
          </a:prstGeom>
          <a:solidFill>
            <a:srgbClr val="2B1200"/>
          </a:solidFill>
          <a:ln w="12700">
            <a:solidFill>
              <a:srgbClr val="3D2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724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8-10 AM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E2200"/>
          </a:solidFill>
          <a:ln w="12700">
            <a:solidFill>
              <a:srgbClr val="4E2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Bright Coffee Shop Sales  |  Tools: SQL · Databricks · Excel · Power 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On-screen Show (16:9)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Sales Analysis</dc:title>
  <dc:subject>PptxGenJS Presentation</dc:subject>
  <dc:creator>PptxGenJS</dc:creator>
  <cp:lastModifiedBy>Rinae Netshilinganedza</cp:lastModifiedBy>
  <cp:revision>3</cp:revision>
  <dcterms:created xsi:type="dcterms:W3CDTF">2026-03-31T21:38:26Z</dcterms:created>
  <dcterms:modified xsi:type="dcterms:W3CDTF">2026-03-31T21:52:13Z</dcterms:modified>
</cp:coreProperties>
</file>